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24384000" cy="13716000"/>
  <p:notesSz cx="6858000" cy="9144000"/>
  <p:embeddedFontLst>
    <p:embeddedFont>
      <p:font typeface="한컴 윤고딕 240" panose="02020603020101020101" pitchFamily="18" charset="-127"/>
      <p:regular r:id="rId16"/>
    </p:embeddedFont>
    <p:embeddedFont>
      <p:font typeface="한컴 윤고딕 230" panose="02020603020101020101" pitchFamily="18" charset="-127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한컴 윤고딕 250" panose="02020603020101020101" pitchFamily="18" charset="-127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579" autoAdjust="0"/>
  </p:normalViewPr>
  <p:slideViewPr>
    <p:cSldViewPr>
      <p:cViewPr>
        <p:scale>
          <a:sx n="58" d="100"/>
          <a:sy n="58" d="100"/>
        </p:scale>
        <p:origin x="-150" y="-7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7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7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4.png"/><Relationship Id="rId7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4.png"/><Relationship Id="rId7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3900" y="3416300"/>
            <a:ext cx="22948900" cy="34798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ctr">
              <a:lnSpc>
                <a:spcPct val="99600"/>
              </a:lnSpc>
            </a:pPr>
            <a:r>
              <a:rPr lang="en-US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AI</a:t>
            </a:r>
            <a:r>
              <a:rPr lang="ko-KR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기반의</a:t>
            </a:r>
            <a:r>
              <a:rPr lang="en-US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자연어</a:t>
            </a:r>
            <a:r>
              <a:rPr lang="en-US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이해</a:t>
            </a:r>
            <a:r>
              <a:rPr lang="en-US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(NLU) </a:t>
            </a:r>
            <a:r>
              <a:rPr lang="ko-KR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모델을</a:t>
            </a:r>
            <a:r>
              <a:rPr lang="en-US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활용한</a:t>
            </a:r>
            <a:r>
              <a:rPr lang="en-US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상품정보</a:t>
            </a:r>
            <a:r>
              <a:rPr lang="en-US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조회</a:t>
            </a:r>
            <a:r>
              <a:rPr lang="en-US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및</a:t>
            </a:r>
            <a:r>
              <a:rPr lang="en-US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전달</a:t>
            </a:r>
            <a:r>
              <a:rPr lang="en-US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방향</a:t>
            </a:r>
            <a:r>
              <a:rPr lang="en-US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8800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구현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39900" y="9906000"/>
            <a:ext cx="20726400" cy="1092200"/>
          </a:xfrm>
          <a:prstGeom prst="rect">
            <a:avLst/>
          </a:prstGeom>
        </p:spPr>
        <p:txBody>
          <a:bodyPr lIns="0" tIns="4218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322" b="0" i="0" u="none" strike="noStrike" spc="-33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Team tact</a:t>
            </a:r>
          </a:p>
          <a:p>
            <a:pPr lvl="0" algn="ctr">
              <a:lnSpc>
                <a:spcPct val="99600"/>
              </a:lnSpc>
            </a:pPr>
            <a:r>
              <a:rPr lang="ko-KR" sz="3322" b="0" i="0" u="none" strike="noStrike" spc="-33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서영준</a:t>
            </a:r>
            <a:r>
              <a:rPr lang="en-US" sz="3322" b="0" i="0" u="none" strike="noStrike" spc="-33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3322" b="0" i="0" u="none" strike="noStrike" spc="-33" dirty="0" err="1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김동록</a:t>
            </a:r>
            <a:r>
              <a:rPr lang="en-US" sz="3322" b="0" i="0" u="none" strike="noStrike" spc="-33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3322" b="0" i="0" u="none" strike="noStrike" spc="-33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이치우</a:t>
            </a:r>
            <a:r>
              <a:rPr lang="en-US" sz="3322" b="0" i="0" u="none" strike="noStrike" spc="-33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3322" b="0" i="0" u="none" strike="noStrike" spc="-33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최석민</a:t>
            </a:r>
            <a:r>
              <a:rPr lang="en-US" sz="3322" b="0" i="0" u="none" strike="noStrike" spc="-33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altLang="en-US" sz="3322" b="0" i="0" u="none" strike="noStrike" spc="-33" dirty="0" smtClean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김소영 </a:t>
            </a:r>
            <a:r>
              <a:rPr lang="ko-KR" sz="3322" b="0" i="0" u="none" strike="noStrike" spc="-33" dirty="0" smtClean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맹성준</a:t>
            </a:r>
            <a:r>
              <a:rPr lang="en-US" sz="3322" b="0" i="0" u="none" strike="noStrike" spc="-33" dirty="0" smtClean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3322" b="0" i="0" u="none" strike="noStrike" spc="-33" dirty="0" err="1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진희남</a:t>
            </a:r>
            <a:r>
              <a:rPr lang="en-US" sz="3322" b="0" i="0" u="none" strike="noStrike" spc="-33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3322" b="0" i="0" u="none" strike="noStrike" spc="-33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김경래</a:t>
            </a:r>
            <a:r>
              <a:rPr lang="en-US" sz="3322" b="0" i="0" u="none" strike="noStrike" spc="-33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3322" b="0" i="0" u="none" strike="noStrike" spc="-33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김민섭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12776200"/>
            <a:ext cx="225425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901700" y="1130300"/>
            <a:ext cx="22783800" cy="990600"/>
          </a:xfrm>
          <a:prstGeom prst="rect">
            <a:avLst/>
          </a:prstGeom>
        </p:spPr>
        <p:txBody>
          <a:bodyPr lIns="0" tIns="70663" rIns="0" bIns="70663" rtlCol="0" anchor="ctr"/>
          <a:lstStyle/>
          <a:p>
            <a:pPr lvl="0" algn="l">
              <a:lnSpc>
                <a:spcPct val="99600"/>
              </a:lnSpc>
            </a:pPr>
            <a:r>
              <a:rPr lang="en" sz="5564" b="0" i="0" u="none" strike="noStrike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60600" y="6210300"/>
            <a:ext cx="3937000" cy="2082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프로젝트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개요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배경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및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문제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인식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프로젝트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목표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사용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기술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60600" y="5080000"/>
            <a:ext cx="36449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3733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프로젝트</a:t>
            </a:r>
            <a:r>
              <a:rPr lang="en-US" sz="3733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3733" b="0" i="0" u="none" strike="noStrike" dirty="0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소개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0600" y="5080000"/>
            <a:ext cx="8636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" sz="3733" b="0" i="0" u="none" strike="noStrike" dirty="0">
                <a:solidFill>
                  <a:srgbClr val="AACBE9"/>
                </a:solidFill>
                <a:latin typeface="한컴 윤고딕 250" pitchFamily="18" charset="-127"/>
                <a:ea typeface="한컴 윤고딕 250" pitchFamily="18" charset="-127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31100" y="6210300"/>
            <a:ext cx="3822700" cy="1562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- PDF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데이터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추출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보험료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계산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- AI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보험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비서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31100" y="5080000"/>
            <a:ext cx="31369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3733" b="0" i="0" u="none" strike="noStrike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주요</a:t>
            </a:r>
            <a:r>
              <a:rPr lang="en-US" sz="3733" b="0" i="0" u="none" strike="noStrike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3733" b="0" i="0" u="none" strike="noStrike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기능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61100" y="5080000"/>
            <a:ext cx="10541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" sz="3733" b="0" i="0" u="none" strike="noStrike">
                <a:solidFill>
                  <a:srgbClr val="AACBE9"/>
                </a:solidFill>
                <a:latin typeface="한컴 윤고딕 250" pitchFamily="18" charset="-127"/>
                <a:ea typeface="한컴 윤고딕 250" pitchFamily="18" charset="-127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33300" y="6210300"/>
            <a:ext cx="4483100" cy="2082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테스트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자동화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효과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데이터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관리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개선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교육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및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검색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효율화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로컬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AI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환경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구현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433300" y="5080000"/>
            <a:ext cx="38481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3733" b="0" i="0" u="none" strike="noStrike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성과</a:t>
            </a:r>
            <a:r>
              <a:rPr lang="en-US" sz="3733" b="0" i="0" u="none" strike="noStrike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3733" b="0" i="0" u="none" strike="noStrike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및</a:t>
            </a:r>
            <a:r>
              <a:rPr lang="en-US" sz="3733" b="0" i="0" u="none" strike="noStrike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3733" b="0" i="0" u="none" strike="noStrike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기대효과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76000" y="5080000"/>
            <a:ext cx="9398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" sz="3733" b="0" i="0" u="none" strike="noStrike" dirty="0">
                <a:solidFill>
                  <a:srgbClr val="AACBE9"/>
                </a:solidFill>
                <a:latin typeface="한컴 윤고딕 250" pitchFamily="18" charset="-127"/>
                <a:ea typeface="한컴 윤고딕 250" pitchFamily="18" charset="-127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072100" y="6210300"/>
            <a:ext cx="5930900" cy="2082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- PDF → DB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정규화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고도화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테스트케이스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자동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생성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- UI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개선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및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시각화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강화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타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시스템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확장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50" pitchFamily="18" charset="-127"/>
                <a:ea typeface="한컴 윤고딕 250" pitchFamily="18" charset="-127"/>
              </a:rPr>
              <a:t>검토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072100" y="5080000"/>
            <a:ext cx="40894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3733" b="0" i="0" u="none" strike="noStrike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향후</a:t>
            </a:r>
            <a:r>
              <a:rPr lang="en-US" sz="3733" b="0" i="0" u="none" strike="noStrike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 </a:t>
            </a:r>
            <a:r>
              <a:rPr lang="ko-KR" sz="3733" b="0" i="0" u="none" strike="noStrike">
                <a:solidFill>
                  <a:srgbClr val="0063BA"/>
                </a:solidFill>
                <a:latin typeface="한컴 윤고딕 250" pitchFamily="18" charset="-127"/>
                <a:ea typeface="한컴 윤고딕 250" pitchFamily="18" charset="-127"/>
              </a:rPr>
              <a:t>계획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814800" y="5080000"/>
            <a:ext cx="10160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" sz="3733" b="0" i="0" u="none" strike="noStrike" dirty="0">
                <a:solidFill>
                  <a:srgbClr val="AACBE9"/>
                </a:solidFill>
                <a:latin typeface="한컴 윤고딕 250" pitchFamily="18" charset="-127"/>
                <a:ea typeface="한컴 윤고딕 250" pitchFamily="18" charset="-127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3289300"/>
            <a:ext cx="19075400" cy="19939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845800" y="5410200"/>
            <a:ext cx="12738100" cy="20828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en-US" sz="2933" b="0" i="0" u="none" strike="noStrike" dirty="0" err="1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Ollama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: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로컬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LLM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기반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문서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이해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Python: 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PDF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분석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및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전처리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Spring Boot: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보험료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계산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API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제공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Electron: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로컬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 err="1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실행형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UI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구현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81500" y="6184900"/>
            <a:ext cx="62230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ko-KR" sz="3154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시스템</a:t>
            </a:r>
            <a:r>
              <a:rPr lang="en-US" sz="3154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154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구성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1612900"/>
            <a:ext cx="190754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3276600"/>
            <a:ext cx="190754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5295900"/>
            <a:ext cx="190754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7543800"/>
            <a:ext cx="190754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762500" y="3657600"/>
            <a:ext cx="18389600" cy="12192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ko-KR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보험료</a:t>
            </a:r>
            <a:r>
              <a:rPr lang="en-US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계산</a:t>
            </a:r>
            <a:r>
              <a:rPr lang="en-US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자동화</a:t>
            </a:r>
            <a:r>
              <a:rPr lang="en-US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및</a:t>
            </a:r>
            <a:r>
              <a:rPr lang="en-US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AI </a:t>
            </a:r>
            <a:r>
              <a:rPr lang="ko-KR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기반</a:t>
            </a:r>
            <a:r>
              <a:rPr lang="en-US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</a:t>
            </a:r>
            <a:r>
              <a:rPr lang="en-US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지식</a:t>
            </a:r>
            <a:r>
              <a:rPr lang="en-US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비서</a:t>
            </a:r>
            <a:r>
              <a:rPr lang="en-US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시스템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45800" y="7912100"/>
            <a:ext cx="12738100" cy="1562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PDF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문서에서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상품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자동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추출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보험료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 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계산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자동화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및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alt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성능 </a:t>
            </a:r>
            <a:r>
              <a:rPr lang="ko-KR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리포트</a:t>
            </a: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생성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AI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질의응답으로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상품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 err="1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로직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이해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지원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81500" y="8432800"/>
            <a:ext cx="62230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ko-KR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주요</a:t>
            </a:r>
            <a:r>
              <a:rPr lang="en-US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기능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9791700"/>
            <a:ext cx="19075400" cy="25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845800" y="10172700"/>
            <a:ext cx="12738100" cy="1562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PDF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업로드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→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추출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→ DB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저장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보험료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계산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→ </a:t>
            </a:r>
            <a:r>
              <a:rPr lang="ko-KR" alt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 검증</a:t>
            </a: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→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리포트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생성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질의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입력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→ AI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분석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→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응답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제공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81500" y="10680700"/>
            <a:ext cx="62230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ko-KR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처리</a:t>
            </a:r>
            <a:r>
              <a:rPr lang="en-US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흐름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12052300"/>
            <a:ext cx="190754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27100" y="1625600"/>
            <a:ext cx="3365500" cy="1841500"/>
          </a:xfrm>
          <a:prstGeom prst="rect">
            <a:avLst/>
          </a:prstGeom>
        </p:spPr>
        <p:txBody>
          <a:bodyPr lIns="0" tIns="7066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프로젝트</a:t>
            </a:r>
            <a:r>
              <a:rPr lang="en-US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612900"/>
            <a:ext cx="190754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27100" y="1625600"/>
            <a:ext cx="3365500" cy="1955800"/>
          </a:xfrm>
          <a:prstGeom prst="rect">
            <a:avLst/>
          </a:prstGeom>
        </p:spPr>
        <p:txBody>
          <a:bodyPr lIns="0" tIns="7066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배경</a:t>
            </a:r>
            <a:r>
              <a:rPr lang="en-US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및</a:t>
            </a:r>
            <a:r>
              <a:rPr lang="en-US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 </a:t>
            </a:r>
          </a:p>
          <a:p>
            <a:pPr lvl="0" algn="l">
              <a:lnSpc>
                <a:spcPct val="99600"/>
              </a:lnSpc>
            </a:pPr>
            <a:r>
              <a:rPr lang="ko-KR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문제</a:t>
            </a:r>
            <a:r>
              <a:rPr lang="en-US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인식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2946400"/>
            <a:ext cx="9207500" cy="4254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500" y="2946400"/>
            <a:ext cx="9207500" cy="4254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851400" y="34925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sz="415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테스트</a:t>
            </a:r>
            <a:r>
              <a:rPr lang="en-US" sz="415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비효율성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76800" y="4572000"/>
            <a:ext cx="8305800" cy="2082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상품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테스트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케이스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수가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많음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수동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검증에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많은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시간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소요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반복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작업으로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인한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인적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오류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발생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테스트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결과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일관성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부족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19300" y="34925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altLang="en-US" sz="4154" b="0" i="0" u="none" strike="noStrike" dirty="0" smtClean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상품 문서 복잡성 증가</a:t>
            </a:r>
            <a:endParaRPr lang="ko-KR" sz="4154" b="0" i="0" u="none" strike="noStrike" dirty="0">
              <a:solidFill>
                <a:srgbClr val="0063BA"/>
              </a:solidFill>
              <a:latin typeface="한컴 윤고딕 240" pitchFamily="18" charset="-127"/>
              <a:ea typeface="한컴 윤고딕 240" pitchFamily="18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744700" y="4572000"/>
            <a:ext cx="8305800" cy="2082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상품</a:t>
            </a:r>
            <a:r>
              <a:rPr lang="en-US" altLang="ko-KR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alt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별 합본 생성 추세</a:t>
            </a:r>
            <a:endParaRPr lang="ko-KR" sz="2933" b="0" i="0" u="none" strike="noStrike" dirty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altLang="en-US" sz="2933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상품 종과 형의 표현 복잡성 증가</a:t>
            </a:r>
            <a:endParaRPr lang="ko-KR" sz="2933" b="0" i="0" u="none" strike="noStrike" dirty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정보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검색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시간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증가</a:t>
            </a:r>
            <a:endParaRPr lang="ko-KR" sz="2933" b="0" i="0" u="none" strike="noStrike" dirty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9600" y="7810500"/>
            <a:ext cx="9207500" cy="425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87500" y="7810500"/>
            <a:ext cx="9207500" cy="4254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4851400" y="83439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sz="4154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상품</a:t>
            </a:r>
            <a:r>
              <a:rPr lang="en-US" sz="4154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altLang="en-US" sz="4154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정보의 파편화</a:t>
            </a:r>
            <a:endParaRPr lang="ko-KR" sz="4154" b="0" i="0" u="none" strike="noStrike" dirty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876800" y="9436100"/>
            <a:ext cx="8305800" cy="2082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alt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문서 복잡성 증가에 따른 정보 파편화 </a:t>
            </a:r>
            <a:endParaRPr lang="ko-KR" sz="2933" b="0" i="0" u="none" strike="noStrike" dirty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alt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정보 </a:t>
            </a:r>
            <a:r>
              <a:rPr lang="ko-KR" altLang="en-US" sz="2933" b="0" i="0" u="none" strike="noStrike" dirty="0" err="1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접근성</a:t>
            </a:r>
            <a:r>
              <a:rPr lang="ko-KR" alt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향상 필요</a:t>
            </a:r>
            <a:endParaRPr lang="ko-KR" sz="2933" b="0" i="0" u="none" strike="noStrike" dirty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alt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상품</a:t>
            </a: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연관성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파악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어려움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지식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전달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과정의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비효율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19300" y="83439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개선</a:t>
            </a:r>
            <a:r>
              <a:rPr lang="en-US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방향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744700" y="9436100"/>
            <a:ext cx="8305800" cy="2082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AI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기반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문서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이해</a:t>
            </a: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시스템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도입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테스트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자동화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프로세스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구축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통합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관리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체계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마련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로컬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환경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AI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비서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구현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01700" y="1130300"/>
            <a:ext cx="22783800" cy="990600"/>
          </a:xfrm>
          <a:prstGeom prst="rect">
            <a:avLst/>
          </a:prstGeom>
        </p:spPr>
        <p:txBody>
          <a:bodyPr lIns="0" tIns="70663" rIns="0" bIns="70663" rtlCol="0" anchor="ctr"/>
          <a:lstStyle/>
          <a:p>
            <a:pPr lvl="0" algn="l">
              <a:lnSpc>
                <a:spcPct val="99600"/>
              </a:lnSpc>
            </a:pPr>
            <a:r>
              <a:rPr lang="ko-KR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프로젝트</a:t>
            </a:r>
            <a:r>
              <a:rPr lang="en-US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목표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3086100"/>
            <a:ext cx="5410200" cy="1041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11200" y="4610100"/>
            <a:ext cx="6019800" cy="1562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PDF</a:t>
            </a:r>
            <a:r>
              <a:rPr lang="ko-KR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에서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 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보험상품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   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자동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 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추출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텍스트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→ JSON 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구조화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변환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200" y="4140200"/>
            <a:ext cx="5410200" cy="12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876300" y="3314700"/>
            <a:ext cx="5080000" cy="5969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ko-KR" sz="33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33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3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추출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20600" y="3086100"/>
            <a:ext cx="5410200" cy="1041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2420600" y="4610100"/>
            <a:ext cx="5511800" cy="1562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상품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로직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이해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 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및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검증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지원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복잡한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질의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 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응답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처리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지식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기반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구축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07900" y="4140200"/>
            <a:ext cx="5410200" cy="12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573000" y="3314700"/>
            <a:ext cx="5080000" cy="5969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en-US" sz="33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AI </a:t>
            </a:r>
            <a:r>
              <a:rPr lang="ko-KR" sz="33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질의응답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62600" y="3086100"/>
            <a:ext cx="5410200" cy="1041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8262600" y="4610100"/>
            <a:ext cx="5511800" cy="1562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내부망에서도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 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실행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가능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외부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의존성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 </a:t>
            </a:r>
            <a:r>
              <a:rPr lang="en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최소화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보안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강화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49900" y="4140200"/>
            <a:ext cx="5410200" cy="12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8415000" y="3314700"/>
            <a:ext cx="5080000" cy="5969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ko-KR" sz="33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로컬</a:t>
            </a:r>
            <a:r>
              <a:rPr lang="en-US" sz="33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AI </a:t>
            </a:r>
            <a:r>
              <a:rPr lang="ko-KR" sz="33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구축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5900" y="3086100"/>
            <a:ext cx="5410200" cy="1041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6565900" y="4610100"/>
            <a:ext cx="5511800" cy="1562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보험료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자동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계산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결과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리포트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 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자동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생성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정합성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검증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900" y="4140200"/>
            <a:ext cx="5410200" cy="127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6731000" y="3314700"/>
            <a:ext cx="5080000" cy="5969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ko-KR" sz="33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테스트</a:t>
            </a:r>
            <a:r>
              <a:rPr lang="en-US" sz="33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3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자동화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900" y="3086100"/>
            <a:ext cx="5410200" cy="12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200" y="3086100"/>
            <a:ext cx="5410200" cy="12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07900" y="3086100"/>
            <a:ext cx="5410200" cy="12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49900" y="3086100"/>
            <a:ext cx="5410200" cy="12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900" y="8204200"/>
            <a:ext cx="5410200" cy="12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200" y="8191500"/>
            <a:ext cx="5410200" cy="12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07900" y="8178800"/>
            <a:ext cx="5410200" cy="12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49900" y="8204200"/>
            <a:ext cx="5410200" cy="127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9800" y="8864600"/>
            <a:ext cx="22504400" cy="35941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524000" y="9931400"/>
            <a:ext cx="21488400" cy="14478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보험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상품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처리와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보험료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계산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과정을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자동화하고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,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로컬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환경에서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AI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기반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보험지식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비서를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구현하여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업무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효율성을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높이는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것을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목표로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합니다</a:t>
            </a:r>
            <a:r>
              <a:rPr lang="en-US" sz="4060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901700" y="1130300"/>
            <a:ext cx="22783800" cy="990600"/>
          </a:xfrm>
          <a:prstGeom prst="rect">
            <a:avLst/>
          </a:prstGeom>
        </p:spPr>
        <p:txBody>
          <a:bodyPr lIns="0" tIns="70663" rIns="0" bIns="70663" rtlCol="0" anchor="ctr"/>
          <a:lstStyle/>
          <a:p>
            <a:pPr lvl="0" algn="l">
              <a:lnSpc>
                <a:spcPct val="99600"/>
              </a:lnSpc>
            </a:pPr>
            <a:r>
              <a:rPr lang="ko-KR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사용</a:t>
            </a:r>
            <a:r>
              <a:rPr lang="en-US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기술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200" y="4102100"/>
            <a:ext cx="14884400" cy="1155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600" y="4102100"/>
            <a:ext cx="72009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612900" y="4343400"/>
            <a:ext cx="6438900" cy="660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en" sz="3733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Ollama (LLM)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39200" y="4406900"/>
            <a:ext cx="14160500" cy="546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문서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이해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및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질의응답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처리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1200" y="5816600"/>
            <a:ext cx="14884400" cy="1155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4600" y="5816600"/>
            <a:ext cx="7200900" cy="1155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612900" y="6070600"/>
            <a:ext cx="6438900" cy="660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en" sz="3733" b="0" i="0" u="none" strike="noStrike" dirty="0" smtClean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Python</a:t>
            </a:r>
            <a:endParaRPr lang="en" sz="3733" b="0" i="0" u="none" strike="noStrike" dirty="0">
              <a:solidFill>
                <a:srgbClr val="0063BA"/>
              </a:solidFill>
              <a:latin typeface="한컴 윤고딕 240" pitchFamily="18" charset="-127"/>
              <a:ea typeface="한컴 윤고딕 240" pitchFamily="18" charset="-127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839200" y="6134100"/>
            <a:ext cx="14160500" cy="546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PDF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분석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및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전처리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9300" y="7543800"/>
            <a:ext cx="14884400" cy="1155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00" y="7543800"/>
            <a:ext cx="7200900" cy="1155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651000" y="7797800"/>
            <a:ext cx="6438900" cy="660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en" sz="3733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Spring Boot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77300" y="7861300"/>
            <a:ext cx="14160500" cy="546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보험료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계산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및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테스트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API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제공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9300" y="9271000"/>
            <a:ext cx="14884400" cy="1155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00" y="9271000"/>
            <a:ext cx="7200900" cy="11557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651000" y="9525000"/>
            <a:ext cx="6438900" cy="660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en" sz="3733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Electron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77300" y="9575800"/>
            <a:ext cx="14160500" cy="546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로컬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실행형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사용자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인터페이스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9300" y="10998200"/>
            <a:ext cx="14884400" cy="1155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00" y="10998200"/>
            <a:ext cx="7200900" cy="11557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651000" y="11252200"/>
            <a:ext cx="6438900" cy="660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ko-KR" sz="3733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3733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733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흐름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77300" y="11303000"/>
            <a:ext cx="14160500" cy="546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PDF →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분석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→ DB →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계산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→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응답</a:t>
            </a:r>
            <a:r>
              <a:rPr lang="en-US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→ </a:t>
            </a:r>
            <a:r>
              <a:rPr lang="ko-KR" sz="3066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시각화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3289300"/>
            <a:ext cx="19075400" cy="19939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845800" y="5676900"/>
            <a:ext cx="12738100" cy="1562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PDF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문서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업로드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상품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관련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주요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항목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자동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추출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텍스트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인식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기술로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상품명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,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보장내용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,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보험료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등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핵심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정보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식별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수동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입력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과정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없이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확보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81500" y="6184900"/>
            <a:ext cx="62230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ko-KR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자동</a:t>
            </a:r>
            <a:r>
              <a:rPr lang="en-US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추출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1612900"/>
            <a:ext cx="190754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3276600"/>
            <a:ext cx="190754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5295900"/>
            <a:ext cx="190754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7543800"/>
            <a:ext cx="190754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762500" y="4013200"/>
            <a:ext cx="183896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en-US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PDF </a:t>
            </a:r>
            <a:r>
              <a:rPr lang="ko-KR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추출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45800" y="7912100"/>
            <a:ext cx="12738100" cy="1562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추출된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텍스트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데이터를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JSON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구조로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변환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키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값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쌍으로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정보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구조화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처리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예시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: {product: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암보험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, age:30, price:14500}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81500" y="8432800"/>
            <a:ext cx="62230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ko-KR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구조화</a:t>
            </a:r>
            <a:r>
              <a:rPr lang="en-US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변환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9791700"/>
            <a:ext cx="19075400" cy="25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845800" y="10172700"/>
            <a:ext cx="12738100" cy="1562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구조화된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데이터를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데이터베이스에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저장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검색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및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분석이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용이한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형태로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관리</a:t>
            </a: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추후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보험료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계산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및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AI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질의응답에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활용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81500" y="10680700"/>
            <a:ext cx="6223000" cy="558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ko-KR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3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저장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12052300"/>
            <a:ext cx="190754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27100" y="1625600"/>
            <a:ext cx="3365500" cy="990600"/>
          </a:xfrm>
          <a:prstGeom prst="rect">
            <a:avLst/>
          </a:prstGeom>
        </p:spPr>
        <p:txBody>
          <a:bodyPr lIns="0" tIns="70663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5564" b="0" i="0" u="none" strike="noStrike" dirty="0" smtClean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주요기능</a:t>
            </a:r>
            <a:endParaRPr lang="en" sz="5564" b="0" i="0" u="none" strike="noStrike" dirty="0">
              <a:solidFill>
                <a:srgbClr val="0063BA"/>
              </a:solidFill>
              <a:latin typeface="한컴 윤고딕 240" pitchFamily="18" charset="-127"/>
              <a:ea typeface="한컴 윤고딕 240" pitchFamily="18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612900"/>
            <a:ext cx="190754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27100" y="1625600"/>
            <a:ext cx="3365500" cy="1955800"/>
          </a:xfrm>
          <a:prstGeom prst="rect">
            <a:avLst/>
          </a:prstGeom>
        </p:spPr>
        <p:txBody>
          <a:bodyPr lIns="0" tIns="70663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보험료</a:t>
            </a:r>
          </a:p>
          <a:p>
            <a:pPr lvl="0" algn="l">
              <a:lnSpc>
                <a:spcPct val="99600"/>
              </a:lnSpc>
            </a:pPr>
            <a:r>
              <a:rPr lang="en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계산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2946400"/>
            <a:ext cx="9207500" cy="4254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500" y="2946400"/>
            <a:ext cx="9207500" cy="4254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851400" y="34925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en-US" sz="415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API </a:t>
            </a:r>
            <a:r>
              <a:rPr lang="ko-KR" sz="415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실행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76800" y="4572000"/>
            <a:ext cx="8305800" cy="2082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Spring Boot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기반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보험료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산출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API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구현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PDF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에서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추출한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기반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계산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다양한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 err="1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조건별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보험료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자동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계산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altLang="en-US" sz="2933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 유형별 </a:t>
            </a:r>
            <a:r>
              <a:rPr lang="en-US" altLang="ko-KR" sz="2933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DB </a:t>
            </a:r>
            <a:r>
              <a:rPr lang="ko-KR" altLang="en-US" sz="2933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집적 처</a:t>
            </a:r>
            <a:r>
              <a:rPr lang="ko-KR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리</a:t>
            </a:r>
            <a:endParaRPr lang="ko-KR" sz="2933" b="0" i="0" u="none" strike="noStrike" dirty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719300" y="34925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sz="415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415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비교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44700" y="4572000"/>
            <a:ext cx="8305800" cy="2082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PDF </a:t>
            </a:r>
            <a:r>
              <a:rPr lang="ko-KR" sz="2933" b="0" i="0" u="none" strike="noStrike" dirty="0" err="1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산출식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데이터와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계산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결과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비교</a:t>
            </a:r>
          </a:p>
          <a:p>
            <a:pPr marL="457200" lvl="0" indent="-457200" algn="ctr">
              <a:lnSpc>
                <a:spcPct val="116199"/>
              </a:lnSpc>
              <a:buFontTx/>
              <a:buChar char="-"/>
            </a:pPr>
            <a:r>
              <a:rPr lang="ko-KR" altLang="en-US" sz="2933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가입 가능</a:t>
            </a:r>
            <a:r>
              <a:rPr lang="ko-KR" altLang="en-US" sz="2933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전구간 </a:t>
            </a:r>
            <a:r>
              <a:rPr lang="ko-KR" altLang="en-US" sz="2933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산출 </a:t>
            </a:r>
            <a:r>
              <a:rPr lang="ko-KR" altLang="en-US" sz="2933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동시 표시</a:t>
            </a:r>
            <a:endParaRPr lang="en-US" altLang="ko-KR" sz="2933" dirty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  <a:p>
            <a:pPr marL="457200" lvl="0" indent="-457200" algn="ctr">
              <a:lnSpc>
                <a:spcPct val="116199"/>
              </a:lnSpc>
              <a:buFontTx/>
              <a:buChar char="-"/>
            </a:pPr>
            <a:r>
              <a:rPr lang="ko-KR" alt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산출 불가 사유</a:t>
            </a: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자동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감지</a:t>
            </a:r>
            <a:endParaRPr lang="ko-KR" sz="2933" b="0" i="0" u="none" strike="noStrike" dirty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9600" y="7810500"/>
            <a:ext cx="9207500" cy="425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87500" y="7810500"/>
            <a:ext cx="9207500" cy="4254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4851400" y="83439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결과</a:t>
            </a:r>
            <a:r>
              <a:rPr lang="en-US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리포트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6800" y="9436100"/>
            <a:ext cx="8305800" cy="2082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계산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결과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alt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성능</a:t>
            </a: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리포트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자동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생성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Excel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형식으로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출력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일치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/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불일치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항목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시각적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구분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테스트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결과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요약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정보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제공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19300" y="83439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정합성</a:t>
            </a:r>
            <a:r>
              <a:rPr lang="en-US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검증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744700" y="9436100"/>
            <a:ext cx="8305800" cy="2082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보험료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계산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정합성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검증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오류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발생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패턴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식별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altLang="en-US" sz="2933" b="0" i="0" u="none" strike="noStrike" dirty="0" err="1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증분</a:t>
            </a:r>
            <a:r>
              <a:rPr lang="ko-KR" alt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학습을 통한 </a:t>
            </a:r>
            <a:r>
              <a:rPr lang="ko-KR" altLang="en-US" sz="2933" b="0" i="0" u="none" strike="noStrike" dirty="0" err="1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파싱</a:t>
            </a:r>
            <a:r>
              <a:rPr lang="ko-KR" alt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정확도 향상</a:t>
            </a:r>
            <a:endParaRPr lang="ko-KR" sz="2933" b="0" i="0" u="none" strike="noStrike" dirty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612900"/>
            <a:ext cx="190754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27100" y="1625600"/>
            <a:ext cx="3365500" cy="1955800"/>
          </a:xfrm>
          <a:prstGeom prst="rect">
            <a:avLst/>
          </a:prstGeom>
        </p:spPr>
        <p:txBody>
          <a:bodyPr lIns="0" tIns="70663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AI</a:t>
            </a:r>
          </a:p>
          <a:p>
            <a:pPr lvl="0" algn="l">
              <a:lnSpc>
                <a:spcPct val="99600"/>
              </a:lnSpc>
            </a:pPr>
            <a:r>
              <a:rPr lang="ko-KR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보험</a:t>
            </a:r>
            <a:r>
              <a:rPr lang="en-US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비서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8356600"/>
            <a:ext cx="9207500" cy="4254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500" y="8356600"/>
            <a:ext cx="9207500" cy="4254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9600" y="2095500"/>
            <a:ext cx="9207500" cy="5778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87500" y="2095500"/>
            <a:ext cx="9207500" cy="5778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851400" y="88773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지식</a:t>
            </a:r>
            <a:r>
              <a:rPr lang="en-US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축적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76800" y="9982200"/>
            <a:ext cx="8305800" cy="2082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Ollama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기반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로컬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LLM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활용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PDF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문서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내용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자동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학습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상품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관련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지식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데이터베이스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구축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내부망에서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안전하게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운영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가능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719300" y="88773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en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질의응답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744700" y="9982200"/>
            <a:ext cx="8305800" cy="2082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자연어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질문에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정확한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답변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제공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예시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: '30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세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남성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암보장형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보험료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얼마야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?'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복잡한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질의도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처리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가능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판매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상품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,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할증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상품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등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정보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제공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612900"/>
            <a:ext cx="190754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27100" y="1625600"/>
            <a:ext cx="3365500" cy="1955800"/>
          </a:xfrm>
          <a:prstGeom prst="rect">
            <a:avLst/>
          </a:prstGeom>
        </p:spPr>
        <p:txBody>
          <a:bodyPr lIns="0" tIns="7066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성과</a:t>
            </a:r>
            <a:r>
              <a:rPr lang="en-US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및</a:t>
            </a:r>
          </a:p>
          <a:p>
            <a:pPr lvl="0" algn="l">
              <a:lnSpc>
                <a:spcPct val="99600"/>
              </a:lnSpc>
            </a:pPr>
            <a:r>
              <a:rPr lang="en" sz="556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기대효과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2946400"/>
            <a:ext cx="9207500" cy="4254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500" y="2946400"/>
            <a:ext cx="9207500" cy="4254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851400" y="34925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sz="4154" b="0" i="0" u="none" strike="noStrike" dirty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시간</a:t>
            </a:r>
            <a:r>
              <a:rPr lang="en-US" sz="4154" b="0" i="0" u="none" strike="noStrike" dirty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 dirty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효율성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76800" y="4572000"/>
            <a:ext cx="8305800" cy="2082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보험료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계산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자동화로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검증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시간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단축</a:t>
            </a:r>
            <a:endParaRPr lang="ko-KR" sz="2933" b="0" i="0" u="none" strike="noStrike" dirty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수동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작업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대비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처리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속도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향상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대량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테스트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케이스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신속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처리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업무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효율성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극대화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19300" y="34925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sz="415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415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품질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44700" y="4572000"/>
            <a:ext cx="8305800" cy="2082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일관된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관리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체계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구축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산출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오류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사전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감지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및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예방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altLang="en-US" sz="2933" b="0" i="0" u="none" strike="noStrike" dirty="0" err="1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증분</a:t>
            </a:r>
            <a:r>
              <a:rPr lang="ko-KR" alt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학습을 통한</a:t>
            </a: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상품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품질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향상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정확한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정보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기반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의사결정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지원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9600" y="7810500"/>
            <a:ext cx="9207500" cy="425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87500" y="7810500"/>
            <a:ext cx="9207500" cy="4254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4851400" y="83439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교육</a:t>
            </a:r>
            <a:r>
              <a:rPr lang="en-US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효과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6800" y="9436100"/>
            <a:ext cx="8305800" cy="2082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신규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인원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교육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시간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단축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상품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이해도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향상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alt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구조화된 데이터</a:t>
            </a: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altLang="en-US" sz="2933" b="0" i="0" u="none" strike="noStrike" dirty="0" err="1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접근성</a:t>
            </a:r>
            <a:r>
              <a:rPr lang="ko-KR" alt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향상</a:t>
            </a:r>
            <a:endParaRPr lang="ko-KR" sz="2933" b="0" i="0" u="none" strike="noStrike" dirty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지식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공유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및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 err="1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접근성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개선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19300" y="83439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로컬</a:t>
            </a:r>
            <a:r>
              <a:rPr lang="en-US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AI </a:t>
            </a: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환경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744700" y="9436100"/>
            <a:ext cx="8305800" cy="2082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외부망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연결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없이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AI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기능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활용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보안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강화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내부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시스템과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원활한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연동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안정적인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서비스</a:t>
            </a:r>
            <a:r>
              <a:rPr lang="en-US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제공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612900"/>
            <a:ext cx="190754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27100" y="1625600"/>
            <a:ext cx="3365500" cy="990600"/>
          </a:xfrm>
          <a:prstGeom prst="rect">
            <a:avLst/>
          </a:prstGeom>
        </p:spPr>
        <p:txBody>
          <a:bodyPr lIns="0" tIns="7066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5564" b="0" i="0" u="none" strike="noStrike" dirty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향후</a:t>
            </a:r>
            <a:r>
              <a:rPr lang="en-US" sz="5564" b="0" i="0" u="none" strike="noStrike" dirty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5564" b="0" i="0" u="none" strike="noStrike" dirty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계획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2946400"/>
            <a:ext cx="9207500" cy="4254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500" y="2946400"/>
            <a:ext cx="9207500" cy="42545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851400" y="34925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en-US" sz="4154" b="0" i="0" u="none" strike="noStrike" dirty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PDF → DB </a:t>
            </a:r>
            <a:r>
              <a:rPr lang="ko-KR" sz="4154" b="0" i="0" u="none" strike="noStrike" dirty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변환</a:t>
            </a:r>
            <a:r>
              <a:rPr lang="en-US" sz="4154" b="0" i="0" u="none" strike="noStrike" dirty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 dirty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고도화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76800" y="4572000"/>
            <a:ext cx="8305800" cy="520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altLang="en-US" sz="2933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다양한 형식의 </a:t>
            </a:r>
            <a:r>
              <a:rPr lang="en-US" altLang="ko-KR" sz="2933" dirty="0">
                <a:solidFill>
                  <a:srgbClr val="000000"/>
                </a:solidFill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PDF </a:t>
            </a:r>
            <a:r>
              <a:rPr lang="ko-KR" altLang="en-US" sz="2933" dirty="0">
                <a:solidFill>
                  <a:srgbClr val="000000"/>
                </a:solidFill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문서 처리 기능 강화</a:t>
            </a:r>
            <a:endParaRPr lang="en-US" sz="2933" b="0" i="0" u="none" strike="noStrike" dirty="0" smtClean="0">
              <a:solidFill>
                <a:srgbClr val="000000"/>
              </a:solidFill>
              <a:latin typeface="한컴 윤고딕 240" panose="02020603020101020101" pitchFamily="18" charset="-127"/>
              <a:ea typeface="한컴 윤고딕 240" panose="02020603020101020101" pitchFamily="18" charset="-127"/>
            </a:endParaRP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- </a:t>
            </a:r>
            <a:r>
              <a:rPr lang="ko-KR" sz="2933" b="0" i="0" u="none" strike="noStrike" dirty="0" smtClean="0">
                <a:solidFill>
                  <a:srgbClr val="000000"/>
                </a:solidFill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데이터</a:t>
            </a: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 </a:t>
            </a:r>
            <a:r>
              <a:rPr lang="ko-KR" sz="2933" b="0" i="0" u="none" strike="noStrike" dirty="0" smtClean="0">
                <a:solidFill>
                  <a:srgbClr val="000000"/>
                </a:solidFill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추출</a:t>
            </a: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 </a:t>
            </a:r>
            <a:r>
              <a:rPr lang="ko-KR" sz="2933" b="0" i="0" u="none" strike="noStrike" dirty="0" smtClean="0">
                <a:solidFill>
                  <a:srgbClr val="000000"/>
                </a:solidFill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정확도</a:t>
            </a:r>
            <a:r>
              <a:rPr lang="en-US" sz="2933" b="0" i="0" u="none" strike="noStrike" dirty="0" smtClean="0">
                <a:solidFill>
                  <a:srgbClr val="000000"/>
                </a:solidFill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 </a:t>
            </a:r>
            <a:r>
              <a:rPr lang="ko-KR" sz="2933" b="0" i="0" u="none" strike="noStrike" dirty="0" smtClean="0">
                <a:solidFill>
                  <a:srgbClr val="000000"/>
                </a:solidFill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향상</a:t>
            </a:r>
            <a:endParaRPr lang="en-US" altLang="ko-KR" sz="2933" b="0" i="0" u="none" strike="noStrike" dirty="0" smtClean="0">
              <a:solidFill>
                <a:srgbClr val="000000"/>
              </a:solidFill>
              <a:latin typeface="한컴 윤고딕 240" panose="02020603020101020101" pitchFamily="18" charset="-127"/>
              <a:ea typeface="한컴 윤고딕 240" panose="02020603020101020101" pitchFamily="18" charset="-127"/>
            </a:endParaRPr>
          </a:p>
          <a:p>
            <a:pPr algn="ctr">
              <a:lnSpc>
                <a:spcPct val="116199"/>
              </a:lnSpc>
            </a:pPr>
            <a:r>
              <a:rPr lang="en-US" altLang="ko-KR" sz="2900" dirty="0" smtClean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- OCR </a:t>
            </a:r>
            <a:r>
              <a:rPr lang="ko-KR" altLang="en-US" sz="2900" dirty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품질 개선 및 다중 </a:t>
            </a:r>
            <a:r>
              <a:rPr lang="en-US" altLang="ko-KR" sz="2900" dirty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OCR </a:t>
            </a:r>
            <a:r>
              <a:rPr lang="ko-KR" altLang="en-US" sz="2900" dirty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엔진 </a:t>
            </a:r>
            <a:r>
              <a:rPr lang="ko-KR" altLang="en-US" sz="2900" dirty="0" smtClean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활용</a:t>
            </a:r>
            <a:endParaRPr lang="en-US" altLang="ko-KR" sz="2900" dirty="0" smtClean="0">
              <a:latin typeface="한컴 윤고딕 240" panose="02020603020101020101" pitchFamily="18" charset="-127"/>
              <a:ea typeface="한컴 윤고딕 240" panose="02020603020101020101" pitchFamily="18" charset="-127"/>
            </a:endParaRPr>
          </a:p>
          <a:p>
            <a:pPr algn="ctr">
              <a:lnSpc>
                <a:spcPct val="116199"/>
              </a:lnSpc>
            </a:pPr>
            <a:r>
              <a:rPr lang="en-US" altLang="ko-KR" sz="2900" dirty="0" smtClean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- </a:t>
            </a:r>
            <a:r>
              <a:rPr lang="ko-KR" altLang="en-US" sz="2900" dirty="0" smtClean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문서 </a:t>
            </a:r>
            <a:r>
              <a:rPr lang="ko-KR" altLang="en-US" sz="2900" dirty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레이아웃 분석 </a:t>
            </a:r>
            <a:r>
              <a:rPr lang="ko-KR" altLang="en-US" sz="2900" dirty="0" smtClean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고도화</a:t>
            </a:r>
            <a:endParaRPr lang="ko-KR" altLang="en-US" sz="2900" dirty="0">
              <a:latin typeface="한컴 윤고딕 240" panose="02020603020101020101" pitchFamily="18" charset="-127"/>
              <a:ea typeface="한컴 윤고딕 240" panose="02020603020101020101" pitchFamily="18" charset="-127"/>
            </a:endParaRPr>
          </a:p>
          <a:p>
            <a:pPr lvl="0" algn="ctr">
              <a:lnSpc>
                <a:spcPct val="116199"/>
              </a:lnSpc>
            </a:pPr>
            <a:endParaRPr lang="en-US" altLang="ko-KR" sz="2933" b="0" i="0" u="none" strike="noStrike" dirty="0" smtClean="0">
              <a:solidFill>
                <a:srgbClr val="000000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  <a:p>
            <a:pPr lvl="0" algn="ctr">
              <a:lnSpc>
                <a:spcPct val="116199"/>
              </a:lnSpc>
            </a:pPr>
            <a:endParaRPr lang="ko-KR" sz="2933" b="0" i="0" u="none" strike="noStrike" dirty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719300" y="34925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ko-KR" sz="4154" b="0" i="0" u="none" strike="noStrike" dirty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테스트케이스</a:t>
            </a:r>
            <a:r>
              <a:rPr lang="en-US" sz="4154" b="0" i="0" u="none" strike="noStrike" dirty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 dirty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자동</a:t>
            </a:r>
            <a:r>
              <a:rPr lang="en-US" sz="4154" b="0" i="0" u="none" strike="noStrike" dirty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 dirty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생성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44700" y="4572000"/>
            <a:ext cx="8305800" cy="520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 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예외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케이스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발굴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및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테스트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범위</a:t>
            </a:r>
            <a:r>
              <a:rPr lang="en-US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확대</a:t>
            </a:r>
            <a:br>
              <a:rPr lang="ko-KR" sz="2933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</a:br>
            <a:r>
              <a:rPr lang="en-US" altLang="ko-KR" sz="2933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AI </a:t>
            </a:r>
            <a:r>
              <a:rPr lang="ko-KR" altLang="en-US" sz="2933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기반 테스트 시나리오 자동 생성</a:t>
            </a:r>
            <a:endParaRPr lang="ko-KR" sz="2933" b="0" i="0" u="none" strike="noStrike" dirty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9600" y="7810500"/>
            <a:ext cx="9207500" cy="425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93850" y="7810500"/>
            <a:ext cx="9207500" cy="4254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4851400" y="83439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en-US" sz="4154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UI </a:t>
            </a:r>
            <a:r>
              <a:rPr lang="ko-KR" sz="4154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개선</a:t>
            </a:r>
            <a:r>
              <a:rPr lang="en-US" sz="4154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및</a:t>
            </a:r>
            <a:r>
              <a:rPr lang="en-US" sz="4154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시각화</a:t>
            </a:r>
            <a:r>
              <a:rPr lang="en-US" sz="4154" b="0" i="0" u="none" strike="noStrike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강화</a:t>
            </a:r>
            <a:endParaRPr lang="ko-KR" sz="4154" b="0" i="0" u="none" strike="noStrike" dirty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719300" y="8343900"/>
            <a:ext cx="8343900" cy="7366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16199"/>
              </a:lnSpc>
            </a:pPr>
            <a:r>
              <a:rPr lang="en-US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타</a:t>
            </a:r>
            <a:r>
              <a:rPr lang="en-US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부서</a:t>
            </a:r>
            <a:r>
              <a:rPr lang="en-US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및</a:t>
            </a:r>
            <a:r>
              <a:rPr lang="en-US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시스템</a:t>
            </a:r>
            <a:r>
              <a:rPr lang="en-US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연계</a:t>
            </a:r>
            <a:r>
              <a:rPr lang="en-US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방안</a:t>
            </a:r>
            <a:r>
              <a:rPr lang="en-US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</a:t>
            </a:r>
            <a:r>
              <a:rPr lang="ko-KR" sz="4154" b="0" i="0" u="none" strike="noStrike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모색</a:t>
            </a:r>
          </a:p>
        </p:txBody>
      </p:sp>
      <p:sp>
        <p:nvSpPr>
          <p:cNvPr id="17" name="TextBox 10"/>
          <p:cNvSpPr txBox="1"/>
          <p:nvPr/>
        </p:nvSpPr>
        <p:spPr>
          <a:xfrm>
            <a:off x="4851400" y="9461500"/>
            <a:ext cx="8305800" cy="520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2933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- </a:t>
            </a:r>
            <a:r>
              <a:rPr lang="ko-KR" altLang="en-US" sz="2933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사용자 </a:t>
            </a:r>
            <a:r>
              <a:rPr lang="ko-KR" altLang="en-US" sz="2933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친화적 인터페이스 </a:t>
            </a:r>
            <a:r>
              <a:rPr lang="ko-KR" altLang="en-US" sz="2933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개발</a:t>
            </a:r>
            <a:endParaRPr lang="en-US" altLang="ko-KR" sz="2933" dirty="0" smtClean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  <a:p>
            <a:pPr marL="457200" lvl="0" indent="-457200" algn="ctr">
              <a:lnSpc>
                <a:spcPct val="116199"/>
              </a:lnSpc>
              <a:buFontTx/>
              <a:buChar char="-"/>
            </a:pPr>
            <a:r>
              <a:rPr lang="ko-KR" altLang="en-US" sz="2900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데이터 </a:t>
            </a:r>
            <a:r>
              <a:rPr lang="ko-KR" altLang="en-US" sz="2900" dirty="0">
                <a:solidFill>
                  <a:srgbClr val="000000"/>
                </a:solidFill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시각화 기능 </a:t>
            </a:r>
            <a:r>
              <a:rPr lang="ko-KR" altLang="en-US" sz="2900" dirty="0" smtClean="0">
                <a:solidFill>
                  <a:srgbClr val="000000"/>
                </a:solidFill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추가</a:t>
            </a:r>
            <a:endParaRPr lang="en-US" altLang="ko-KR" sz="2900" dirty="0" smtClean="0">
              <a:solidFill>
                <a:srgbClr val="000000"/>
              </a:solidFill>
              <a:latin typeface="한컴 윤고딕 240" panose="02020603020101020101" pitchFamily="18" charset="-127"/>
              <a:ea typeface="한컴 윤고딕 240" panose="02020603020101020101" pitchFamily="18" charset="-127"/>
            </a:endParaRPr>
          </a:p>
          <a:p>
            <a:pPr marL="457200" indent="-457200" algn="ctr">
              <a:lnSpc>
                <a:spcPct val="116199"/>
              </a:lnSpc>
              <a:buFontTx/>
              <a:buChar char="-"/>
            </a:pPr>
            <a:r>
              <a:rPr lang="ko-KR" altLang="en-US" sz="2900" dirty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성능 </a:t>
            </a:r>
            <a:r>
              <a:rPr lang="ko-KR" altLang="en-US" sz="2900" dirty="0" err="1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메트릭</a:t>
            </a:r>
            <a:r>
              <a:rPr lang="ko-KR" altLang="en-US" sz="2900" dirty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 시각화 </a:t>
            </a:r>
            <a:r>
              <a:rPr lang="en-US" altLang="ko-KR" sz="2900" dirty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(</a:t>
            </a:r>
            <a:r>
              <a:rPr lang="ko-KR" altLang="en-US" sz="2900" dirty="0" err="1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파싱</a:t>
            </a:r>
            <a:r>
              <a:rPr lang="ko-KR" altLang="en-US" sz="2900" dirty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 시간</a:t>
            </a:r>
            <a:r>
              <a:rPr lang="en-US" altLang="ko-KR" sz="2900" dirty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, </a:t>
            </a:r>
            <a:r>
              <a:rPr lang="ko-KR" altLang="en-US" sz="2900" dirty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성공률 등</a:t>
            </a:r>
            <a:r>
              <a:rPr lang="en-US" altLang="ko-KR" sz="2900" dirty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)</a:t>
            </a:r>
          </a:p>
          <a:p>
            <a:pPr marL="457200" indent="-457200" algn="ctr">
              <a:lnSpc>
                <a:spcPct val="116199"/>
              </a:lnSpc>
              <a:buFontTx/>
              <a:buChar char="-"/>
            </a:pPr>
            <a:r>
              <a:rPr lang="ko-KR" altLang="en-US" sz="2900" dirty="0" err="1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인터랙티브</a:t>
            </a:r>
            <a:r>
              <a:rPr lang="ko-KR" altLang="en-US" sz="2900" dirty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 데이터 탐색 기능</a:t>
            </a:r>
          </a:p>
          <a:p>
            <a:pPr marL="457200" lvl="0" indent="-457200" algn="ctr">
              <a:lnSpc>
                <a:spcPct val="116199"/>
              </a:lnSpc>
              <a:buFontTx/>
              <a:buChar char="-"/>
            </a:pPr>
            <a:endParaRPr lang="ko-KR" sz="2900" b="0" i="0" u="none" strike="noStrike" dirty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</p:txBody>
      </p:sp>
      <p:sp>
        <p:nvSpPr>
          <p:cNvPr id="18" name="TextBox 10"/>
          <p:cNvSpPr txBox="1"/>
          <p:nvPr/>
        </p:nvSpPr>
        <p:spPr>
          <a:xfrm>
            <a:off x="14738350" y="9448800"/>
            <a:ext cx="8305800" cy="520700"/>
          </a:xfrm>
          <a:prstGeom prst="rect">
            <a:avLst/>
          </a:prstGeom>
        </p:spPr>
        <p:txBody>
          <a:bodyPr rtlCol="0" anchor="t"/>
          <a:lstStyle/>
          <a:p>
            <a:pPr marL="457200" lvl="0" indent="-457200" algn="ctr">
              <a:lnSpc>
                <a:spcPct val="116199"/>
              </a:lnSpc>
              <a:buFontTx/>
              <a:buChar char="-"/>
            </a:pPr>
            <a:r>
              <a:rPr lang="ko-KR" altLang="en-US" sz="2933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다양한 </a:t>
            </a:r>
            <a:r>
              <a:rPr lang="ko-KR" altLang="en-US" sz="2900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보험 </a:t>
            </a:r>
            <a:r>
              <a:rPr lang="ko-KR" altLang="en-US" sz="2900" dirty="0" err="1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상품군으로</a:t>
            </a:r>
            <a:r>
              <a:rPr lang="ko-KR" altLang="en-US" sz="2900" dirty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 적용 범위 </a:t>
            </a:r>
            <a:r>
              <a:rPr lang="ko-KR" altLang="en-US" sz="2900" dirty="0" smtClean="0">
                <a:solidFill>
                  <a:srgbClr val="000000"/>
                </a:solidFill>
                <a:latin typeface="한컴 윤고딕 240" pitchFamily="18" charset="-127"/>
                <a:ea typeface="한컴 윤고딕 240" pitchFamily="18" charset="-127"/>
              </a:rPr>
              <a:t>확대</a:t>
            </a:r>
            <a:endParaRPr lang="en-US" altLang="ko-KR" sz="2900" dirty="0" smtClean="0">
              <a:solidFill>
                <a:srgbClr val="000000"/>
              </a:solidFill>
              <a:latin typeface="한컴 윤고딕 240" pitchFamily="18" charset="-127"/>
              <a:ea typeface="한컴 윤고딕 240" pitchFamily="18" charset="-127"/>
            </a:endParaRPr>
          </a:p>
          <a:p>
            <a:pPr marL="457200" indent="-457200" algn="ctr">
              <a:lnSpc>
                <a:spcPct val="116199"/>
              </a:lnSpc>
              <a:buFontTx/>
              <a:buChar char="-"/>
            </a:pPr>
            <a:r>
              <a:rPr lang="ko-KR" altLang="en-US" sz="2900" dirty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표준화된 </a:t>
            </a:r>
            <a:r>
              <a:rPr lang="en-US" altLang="ko-KR" sz="2900" dirty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API </a:t>
            </a:r>
            <a:r>
              <a:rPr lang="ko-KR" altLang="en-US" sz="2900" dirty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인터페이스 제공</a:t>
            </a:r>
          </a:p>
          <a:p>
            <a:pPr marL="457200" indent="-457200" algn="ctr">
              <a:lnSpc>
                <a:spcPct val="116199"/>
              </a:lnSpc>
              <a:buFontTx/>
              <a:buChar char="-"/>
            </a:pPr>
            <a:r>
              <a:rPr lang="ko-KR" altLang="en-US" sz="2900" dirty="0" smtClean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다른 </a:t>
            </a:r>
            <a:r>
              <a:rPr lang="ko-KR" altLang="en-US" sz="2900" dirty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시스템과의 연계 프로토콜 </a:t>
            </a:r>
            <a:r>
              <a:rPr lang="ko-KR" altLang="en-US" sz="2900" dirty="0" smtClean="0">
                <a:latin typeface="한컴 윤고딕 240" panose="02020603020101020101" pitchFamily="18" charset="-127"/>
                <a:ea typeface="한컴 윤고딕 240" panose="02020603020101020101" pitchFamily="18" charset="-127"/>
              </a:rPr>
              <a:t>정의</a:t>
            </a:r>
            <a:endParaRPr lang="ko-KR" altLang="en-US" sz="2900" dirty="0">
              <a:latin typeface="한컴 윤고딕 240" panose="02020603020101020101" pitchFamily="18" charset="-127"/>
              <a:ea typeface="한컴 윤고딕 240" panose="02020603020101020101" pitchFamily="18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pic>
        <p:nvPicPr>
          <p:cNvPr id="19" name="그림 18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504B8D47-49A4-8807-B5C8-31EBA1DA5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5243" y="949252"/>
            <a:ext cx="19531694" cy="1176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246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pic>
        <p:nvPicPr>
          <p:cNvPr id="19" name="그림 1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FE449658-7724-7BEC-37D6-E09B18D7A2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838200"/>
            <a:ext cx="19354924" cy="1183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46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419600" cy="41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0"/>
            <a:ext cx="19964400" cy="41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068300"/>
            <a:ext cx="19075400" cy="25400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723900" y="3416300"/>
            <a:ext cx="22948900" cy="4889500"/>
          </a:xfrm>
          <a:prstGeom prst="rect">
            <a:avLst/>
          </a:prstGeom>
        </p:spPr>
        <p:txBody>
          <a:bodyPr lIns="0" tIns="133773" rIns="0" bIns="13377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5100" b="0" i="0" u="none" strike="noStrike" dirty="0" smtClean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감사합니다</a:t>
            </a:r>
            <a:r>
              <a:rPr lang="en-US" altLang="ko-KR" sz="15100" b="0" i="0" u="none" strike="noStrike" dirty="0" smtClean="0">
                <a:solidFill>
                  <a:srgbClr val="0063BA"/>
                </a:solidFill>
                <a:latin typeface="한컴 윤고딕 240" pitchFamily="18" charset="-127"/>
                <a:ea typeface="한컴 윤고딕 240" pitchFamily="18" charset="-127"/>
              </a:rPr>
              <a:t>.</a:t>
            </a:r>
            <a:endParaRPr lang="ko-KR" sz="15100" b="0" i="0" u="none" strike="noStrike" dirty="0">
              <a:solidFill>
                <a:srgbClr val="0063BA"/>
              </a:solidFill>
              <a:latin typeface="한컴 윤고딕 240" pitchFamily="18" charset="-127"/>
              <a:ea typeface="한컴 윤고딕 2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3982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810</Words>
  <Application>Microsoft Office PowerPoint</Application>
  <PresentationFormat>사용자 지정</PresentationFormat>
  <Paragraphs>178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굴림</vt:lpstr>
      <vt:lpstr>Arial</vt:lpstr>
      <vt:lpstr>한컴 윤고딕 240</vt:lpstr>
      <vt:lpstr>한컴 윤고딕 230</vt:lpstr>
      <vt:lpstr>Calibri</vt:lpstr>
      <vt:lpstr>한컴 윤고딕 250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J-PC</cp:lastModifiedBy>
  <cp:revision>14</cp:revision>
  <dcterms:created xsi:type="dcterms:W3CDTF">2006-08-16T00:00:00Z</dcterms:created>
  <dcterms:modified xsi:type="dcterms:W3CDTF">2025-11-05T16:07:22Z</dcterms:modified>
</cp:coreProperties>
</file>